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498079" y="731520"/>
            <a:ext cx="3931920" cy="5394960"/>
          </a:xfrm>
          <a:prstGeom prst="roundRect">
            <a:avLst/>
          </a:prstGeom>
          <a:solidFill>
            <a:srgbClr val="D3F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2011680"/>
            <a:ext cx="3108960" cy="3108960"/>
          </a:xfrm>
          <a:prstGeom prst="ellipse">
            <a:avLst/>
          </a:prstGeom>
          <a:solidFill>
            <a:srgbClr val="00B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961120" y="3291840"/>
            <a:ext cx="22860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B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BC70"/>
                </a:solidFill>
                <a:latin typeface="Gmarket Sans TTF Bold"/>
                <a:ea typeface="Gmarket Sans TTF Bold"/>
              </a:rPr>
              <a:t>PORTFOLIO PRESENTATION  |  AIGRAVITY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4400" b="0">
                <a:solidFill>
                  <a:srgbClr val="1A1A1A"/>
                </a:solidFill>
                <a:latin typeface="Gmarket Sans TTF Bold"/>
                <a:ea typeface="Gmarket Sans TTF Bold"/>
              </a:rPr>
              <a:t>지능형 AI 모델과
미니멀 엔지니어링 미학</a:t>
            </a:r>
          </a:p>
          <a:p>
            <a:r>
              <a:rPr sz="1600" b="0">
                <a:solidFill>
                  <a:srgbClr val="6E6E6E"/>
                </a:solidFill>
                <a:latin typeface="Gmarket Sans TTF Medium"/>
                <a:ea typeface="Gmarket Sans TTF Medium"/>
              </a:rPr>
              <a:t>Next.js &amp; TailwindCSS 기반 포트폴리오 웹사이트 구축 발표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Gmarket Sans TTF Medium"/>
                <a:ea typeface="Gmarket Sans TTF Medium"/>
              </a:rPr>
              <a:t>발표자 : 권순형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00B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00" b="0">
                <a:solidFill>
                  <a:srgbClr val="00BC70"/>
                </a:solidFill>
                <a:latin typeface="Gmarket Sans TTF Bold"/>
                <a:ea typeface="Gmarket Sans TTF Bold"/>
              </a:rPr>
              <a:t>AIGRAVITY LAB | Concept &amp; Visual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86868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600" b="0">
                <a:solidFill>
                  <a:srgbClr val="1A1A1A"/>
                </a:solidFill>
                <a:latin typeface="Gmarket Sans TTF Bold"/>
                <a:ea typeface="Gmarket Sans TTF Bold"/>
              </a:rPr>
              <a:t>디자인 컨셉 및 레퍼런스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457200"/>
            <a:ext cx="914400" cy="36576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1100" b="0">
                <a:solidFill>
                  <a:srgbClr val="00BC70"/>
                </a:solidFill>
                <a:latin typeface="Gmarket Sans TTF Bold"/>
                <a:ea typeface="Gmarket Sans TTF Bold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206240"/>
          </a:xfrm>
          <a:prstGeom prst="roundRect">
            <a:avLst/>
          </a:prstGeom>
          <a:solidFill>
            <a:srgbClr val="D3F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3840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00BC70"/>
                </a:solidFill>
                <a:latin typeface="Gmarket Sans TTF Bold"/>
                <a:ea typeface="Gmarket Sans TTF Bold"/>
              </a:rPr>
              <a:t>디자인 컨셉 &amp; 비주얼 아이덴티티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Gmarket Sans TTF Bold"/>
                <a:ea typeface="Gmarket Sans TTF Bold"/>
              </a:rPr>
              <a:t>• 미니멀 엔지니어링 미학</a:t>
            </a:r>
          </a:p>
          <a:p>
            <a:pPr>
              <a:spcAft>
                <a:spcPts val="1200"/>
              </a:spcAft>
            </a:pPr>
            <a:r>
              <a:rPr sz="1200" b="0">
                <a:solidFill>
                  <a:srgbClr val="1A1A1A"/>
                </a:solidFill>
                <a:latin typeface="Gmarket Sans TTF Medium"/>
                <a:ea typeface="Gmarket Sans TTF Medium"/>
              </a:rPr>
              <a:t>  불필요한 레이아웃 장식을 제거하고 그리드 시스템과 콘텐츠 자체에 집중하는 디자인 구현.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Gmarket Sans TTF Bold"/>
                <a:ea typeface="Gmarket Sans TTF Bold"/>
              </a:rPr>
              <a:t>• 3D 추상화 비주얼 자산 매핑</a:t>
            </a:r>
          </a:p>
          <a:p>
            <a:pPr>
              <a:spcAft>
                <a:spcPts val="1200"/>
              </a:spcAft>
            </a:pPr>
            <a:r>
              <a:rPr sz="1200" b="0">
                <a:solidFill>
                  <a:srgbClr val="1A1A1A"/>
                </a:solidFill>
                <a:latin typeface="Gmarket Sans TTF Medium"/>
                <a:ea typeface="Gmarket Sans TTF Medium"/>
              </a:rPr>
              <a:t>  텍스트 위주의 지루함에서 탈피, 각 AI 프로젝트 테마(분산 시스템, RAG, 경량 모델)를 상징하는 3D 렌더 그래픽 적용.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Gmarket Sans TTF Bold"/>
                <a:ea typeface="Gmarket Sans TTF Bold"/>
              </a:rPr>
              <a:t>• 단일 하이라이트 컬러 포인트</a:t>
            </a:r>
          </a:p>
          <a:p>
            <a:r>
              <a:rPr sz="1200" b="0">
                <a:solidFill>
                  <a:srgbClr val="1A1A1A"/>
                </a:solidFill>
                <a:latin typeface="Gmarket Sans TTF Medium"/>
                <a:ea typeface="Gmarket Sans TTF Medium"/>
              </a:rPr>
              <a:t>  Morflax 스펙에 맞춰 Cobalt Spark (#298ef5) 단일 액센트를 활용해 클릭 동작 및 핵심 액션에만 집중 유도.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512064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754880" cy="3840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600"/>
              </a:spcAft>
            </a:pPr>
            <a:r>
              <a:rPr sz="1800" b="0">
                <a:solidFill>
                  <a:srgbClr val="1A1A1A"/>
                </a:solidFill>
                <a:latin typeface="Gmarket Sans TTF Bold"/>
                <a:ea typeface="Gmarket Sans TTF Bold"/>
              </a:rPr>
              <a:t>레퍼런스 핵심 디자인 반영 사항</a:t>
            </a:r>
          </a:p>
          <a:p>
            <a:pPr>
              <a:spcAft>
                <a:spcPts val="1400"/>
              </a:spcAft>
            </a:pPr>
            <a:r>
              <a:rPr sz="1400" b="0">
                <a:solidFill>
                  <a:srgbClr val="00BC70"/>
                </a:solidFill>
                <a:latin typeface="Gmarket Sans TTF Bold"/>
                <a:ea typeface="Gmarket Sans TTF Bold"/>
              </a:rPr>
              <a:t>01 | 도형 &amp; 아이콘 위주 레이아웃
</a:t>
            </a:r>
            <a:r>
              <a:rPr sz="1200" b="0">
                <a:solidFill>
                  <a:srgbClr val="6E6E6E"/>
                </a:solidFill>
                <a:latin typeface="Gmarket Sans TTF Medium"/>
                <a:ea typeface="Gmarket Sans TTF Medium"/>
              </a:rPr>
              <a:t>원형 노드, 라운드 카드 등 기하학적인 도형을 유기적으로 배치하여 모던한 테크 에이전시 무드를 연출합니다.</a:t>
            </a:r>
          </a:p>
          <a:p>
            <a:pPr>
              <a:spcAft>
                <a:spcPts val="1400"/>
              </a:spcAft>
            </a:pPr>
            <a:r>
              <a:rPr sz="1400" b="0">
                <a:solidFill>
                  <a:srgbClr val="00BC70"/>
                </a:solidFill>
                <a:latin typeface="Gmarket Sans TTF Bold"/>
                <a:ea typeface="Gmarket Sans TTF Bold"/>
              </a:rPr>
              <a:t>02 | 정보 흐름에 맞춘 목록 도식화
</a:t>
            </a:r>
            <a:r>
              <a:rPr sz="1200" b="0">
                <a:solidFill>
                  <a:srgbClr val="6E6E6E"/>
                </a:solidFill>
                <a:latin typeface="Gmarket Sans TTF Medium"/>
                <a:ea typeface="Gmarket Sans TTF Medium"/>
              </a:rPr>
              <a:t>단순 텍스트 나열을 배제하고, 진행 단계와 유니온 분류에 따라 동선이 흐르는 가로 방향 프로세스로 다이어그램화합니다.</a:t>
            </a:r>
          </a:p>
          <a:p>
            <a:r>
              <a:rPr sz="1400" b="0">
                <a:solidFill>
                  <a:srgbClr val="00BC70"/>
                </a:solidFill>
                <a:latin typeface="Gmarket Sans TTF Bold"/>
                <a:ea typeface="Gmarket Sans TTF Bold"/>
              </a:rPr>
              <a:t>03 | 서체 일관성 (Gmarket Sans)
</a:t>
            </a:r>
            <a:r>
              <a:rPr sz="1200" b="0">
                <a:solidFill>
                  <a:srgbClr val="6E6E6E"/>
                </a:solidFill>
                <a:latin typeface="Gmarket Sans TTF Medium"/>
                <a:ea typeface="Gmarket Sans TTF Medium"/>
              </a:rPr>
              <a:t>헤드라인용 Bold부터 본문용 Medium/Light 체까지 정밀하게 세팅하여 전 슬라이드의 가독성과 완성도를 극대화했습니다.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00B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00" b="0">
                <a:solidFill>
                  <a:srgbClr val="00BC70"/>
                </a:solidFill>
                <a:latin typeface="Gmarket Sans TTF Bold"/>
                <a:ea typeface="Gmarket Sans TTF Bold"/>
              </a:rPr>
              <a:t>AIGRAVITY LAB | Architecture &amp;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86868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600" b="0">
                <a:solidFill>
                  <a:srgbClr val="1A1A1A"/>
                </a:solidFill>
                <a:latin typeface="Gmarket Sans TTF Bold"/>
                <a:ea typeface="Gmarket Sans TTF Bold"/>
              </a:rPr>
              <a:t>웹 플랫폼 아키텍처 및 기술 스택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457200"/>
            <a:ext cx="914400" cy="36576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1100" b="0">
                <a:solidFill>
                  <a:srgbClr val="00BC70"/>
                </a:solidFill>
                <a:latin typeface="Gmarket Sans TTF Bold"/>
                <a:ea typeface="Gmarket Sans TTF Bold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926080" cy="3749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00BC70"/>
                </a:solidFill>
                <a:latin typeface="Gmarket Sans TTF Bold"/>
                <a:ea typeface="Gmarket Sans TTF Bold"/>
              </a:rPr>
              <a:t>FRAMEWORK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A1A1A"/>
                </a:solidFill>
                <a:latin typeface="Gmarket Sans TTF Bold"/>
                <a:ea typeface="Gmarket Sans TTF Bold"/>
              </a:rPr>
              <a:t>Next.js 16 &amp;
React 19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Gmarket Sans TTF Bold"/>
                <a:ea typeface="Gmarket Sans TTF Bold"/>
              </a:rPr>
              <a:t>• 컴포넌트 아키텍처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6E6E6E"/>
                </a:solidFill>
                <a:latin typeface="Gmarket Sans TTF Medium"/>
                <a:ea typeface="Gmarket Sans TTF Medium"/>
              </a:rPr>
              <a:t>독립된 캐러셀 및 프로젝트 카드(FeaturedCard) 등 재사용 가능한 모듈 설계.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Gmarket Sans TTF Bold"/>
                <a:ea typeface="Gmarket Sans TTF Bold"/>
              </a:rPr>
              <a:t>• 고성능 빌드 최적화</a:t>
            </a:r>
          </a:p>
          <a:p>
            <a:r>
              <a:rPr sz="1100" b="0">
                <a:solidFill>
                  <a:srgbClr val="6E6E6E"/>
                </a:solidFill>
                <a:latin typeface="Gmarket Sans TTF Medium"/>
                <a:ea typeface="Gmarket Sans TTF Medium"/>
              </a:rPr>
              <a:t>SSG 정적 사이트 컴파일로 페이지 진입 속도 단축 및 SEO 인덱싱 극대화.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2918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011680"/>
            <a:ext cx="2926080" cy="3749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00BC70"/>
                </a:solidFill>
                <a:latin typeface="Gmarket Sans TTF Bold"/>
                <a:ea typeface="Gmarket Sans TTF Bold"/>
              </a:rPr>
              <a:t>STYLING SYSTEM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A1A1A"/>
                </a:solidFill>
                <a:latin typeface="Gmarket Sans TTF Bold"/>
                <a:ea typeface="Gmarket Sans TTF Bold"/>
              </a:rPr>
              <a:t>TailwindCSS v4
&amp; Globals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Gmarket Sans TTF Bold"/>
                <a:ea typeface="Gmarket Sans TTF Bold"/>
              </a:rPr>
              <a:t>• 글로벌 테마 토큰 제어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6E6E6E"/>
                </a:solidFill>
                <a:latin typeface="Gmarket Sans TTF Medium"/>
                <a:ea typeface="Gmarket Sans TTF Medium"/>
              </a:rPr>
              <a:t>globals.css의 @theme를 통해 브랜드 고유 색상 및 서체 스케일 상수를 중앙 제어.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Gmarket Sans TTF Bold"/>
                <a:ea typeface="Gmarket Sans TTF Bold"/>
              </a:rPr>
              <a:t>• 유틸리티 스타일 최적화</a:t>
            </a:r>
          </a:p>
          <a:p>
            <a:r>
              <a:rPr sz="1100" b="0">
                <a:solidFill>
                  <a:srgbClr val="6E6E6E"/>
                </a:solidFill>
                <a:latin typeface="Gmarket Sans TTF Medium"/>
                <a:ea typeface="Gmarket Sans TTF Medium"/>
              </a:rPr>
              <a:t>모바일-데스크톱의 반응형 뷰(Grid/Flex)를 한 줄의 클래스로 직관적 처리.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2918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011680"/>
            <a:ext cx="2926080" cy="3749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00BC70"/>
                </a:solidFill>
                <a:latin typeface="Gmarket Sans TTF Bold"/>
                <a:ea typeface="Gmarket Sans TTF Bold"/>
              </a:rPr>
              <a:t>STABILITY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A1A1A"/>
                </a:solidFill>
                <a:latin typeface="Gmarket Sans TTF Bold"/>
                <a:ea typeface="Gmarket Sans TTF Bold"/>
              </a:rPr>
              <a:t>TypeScript
Type Safety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Gmarket Sans TTF Bold"/>
                <a:ea typeface="Gmarket Sans TTF Bold"/>
              </a:rPr>
              <a:t>• 구조적 타입 정의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6E6E6E"/>
                </a:solidFill>
                <a:latin typeface="Gmarket Sans TTF Medium"/>
                <a:ea typeface="Gmarket Sans TTF Medium"/>
              </a:rPr>
              <a:t>프로젝트 데이터 모델을 strict하게 한정하여 컴파일 타임의 실수 방지.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Gmarket Sans TTF Bold"/>
                <a:ea typeface="Gmarket Sans TTF Bold"/>
              </a:rPr>
              <a:t>• 에러 없는 무결점 빌드</a:t>
            </a:r>
          </a:p>
          <a:p>
            <a:r>
              <a:rPr sz="1100" b="0">
                <a:solidFill>
                  <a:srgbClr val="6E6E6E"/>
                </a:solidFill>
                <a:latin typeface="Gmarket Sans TTF Medium"/>
                <a:ea typeface="Gmarket Sans TTF Medium"/>
              </a:rPr>
              <a:t>tsconfig.json 설정을 통한 범위 외 독립 프로젝트 스캔 제외 및 빌드 오류 방어.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00B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00" b="0">
                <a:solidFill>
                  <a:srgbClr val="00BC70"/>
                </a:solidFill>
                <a:latin typeface="Gmarket Sans TTF Bold"/>
                <a:ea typeface="Gmarket Sans TTF Bold"/>
              </a:rPr>
              <a:t>AIGRAVITY LAB | Category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86868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600" b="0">
                <a:solidFill>
                  <a:srgbClr val="1A1A1A"/>
                </a:solidFill>
                <a:latin typeface="Gmarket Sans TTF Bold"/>
                <a:ea typeface="Gmarket Sans TTF Bold"/>
              </a:rPr>
              <a:t>Ecosystem 카테고리별 구현 및 매핑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457200"/>
            <a:ext cx="914400" cy="36576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1100" b="0">
                <a:solidFill>
                  <a:srgbClr val="00BC70"/>
                </a:solidFill>
                <a:latin typeface="Gmarket Sans TTF Bold"/>
                <a:ea typeface="Gmarket Sans TTF Bold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2468880"/>
            <a:ext cx="8503920" cy="36576"/>
          </a:xfrm>
          <a:prstGeom prst="rect">
            <a:avLst/>
          </a:prstGeom>
          <a:solidFill>
            <a:srgbClr val="00B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920240" y="2011680"/>
            <a:ext cx="914400" cy="914400"/>
          </a:xfrm>
          <a:prstGeom prst="ellipse">
            <a:avLst/>
          </a:prstGeom>
          <a:solidFill>
            <a:srgbClr val="00B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Gmarket Sans TTF Bold"/>
                <a:ea typeface="Gmarket Sans TTF Bold"/>
              </a:rPr>
              <a:t>SYS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3291840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2926080" cy="2468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Gmarket Sans TTF Bold"/>
                <a:ea typeface="Gmarket Sans TTF Bold"/>
              </a:rPr>
              <a:t>01 | Systems</a:t>
            </a:r>
          </a:p>
          <a:p>
            <a:pPr algn="ctr">
              <a:spcAft>
                <a:spcPts val="800"/>
              </a:spcAft>
            </a:pPr>
            <a:r>
              <a:rPr sz="1100" b="0">
                <a:solidFill>
                  <a:srgbClr val="00BC70"/>
                </a:solidFill>
                <a:latin typeface="Gmarket Sans TTF Bold"/>
                <a:ea typeface="Gmarket Sans TTF Bold"/>
              </a:rPr>
              <a:t>AetherStream / GravityRAG</a:t>
            </a:r>
          </a:p>
          <a:p>
            <a:pPr algn="ctr"/>
            <a:r>
              <a:rPr sz="1100" b="0">
                <a:solidFill>
                  <a:srgbClr val="6E6E6E"/>
                </a:solidFill>
                <a:latin typeface="Gmarket Sans TTF Medium"/>
                <a:ea typeface="Gmarket Sans TTF Medium"/>
              </a:rPr>
              <a:t>실시간 분산 코어 엔진 및 하이브리드 지식 RAG 시스템 구성</a:t>
            </a:r>
          </a:p>
        </p:txBody>
      </p:sp>
      <p:sp>
        <p:nvSpPr>
          <p:cNvPr id="10" name="Oval 9"/>
          <p:cNvSpPr/>
          <p:nvPr/>
        </p:nvSpPr>
        <p:spPr>
          <a:xfrm>
            <a:off x="5577840" y="2011680"/>
            <a:ext cx="914400" cy="914400"/>
          </a:xfrm>
          <a:prstGeom prst="ellipse">
            <a:avLst/>
          </a:prstGeom>
          <a:solidFill>
            <a:srgbClr val="00B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Gmarket Sans TTF Bold"/>
                <a:ea typeface="Gmarket Sans TTF Bold"/>
              </a:rPr>
              <a:t>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108960"/>
            <a:ext cx="3291840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291840"/>
            <a:ext cx="2926080" cy="2468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Gmarket Sans TTF Bold"/>
                <a:ea typeface="Gmarket Sans TTF Bold"/>
              </a:rPr>
              <a:t>02 | Research</a:t>
            </a:r>
          </a:p>
          <a:p>
            <a:pPr algn="ctr">
              <a:spcAft>
                <a:spcPts val="800"/>
              </a:spcAft>
            </a:pPr>
            <a:r>
              <a:rPr sz="1100" b="0">
                <a:solidFill>
                  <a:srgbClr val="00BC70"/>
                </a:solidFill>
                <a:latin typeface="Gmarket Sans TTF Bold"/>
                <a:ea typeface="Gmarket Sans TTF Bold"/>
              </a:rPr>
              <a:t>NeuroMorph / Semantics-100B</a:t>
            </a:r>
          </a:p>
          <a:p>
            <a:pPr algn="ctr"/>
            <a:r>
              <a:rPr sz="1100" b="0">
                <a:solidFill>
                  <a:srgbClr val="6E6E6E"/>
                </a:solidFill>
                <a:latin typeface="Gmarket Sans TTF Medium"/>
                <a:ea typeface="Gmarket Sans TTF Medium"/>
              </a:rPr>
              <a:t>멀티모달 PEFT 튜닝 및 임베디드 엣지 LLM 지식 증류 연구</a:t>
            </a:r>
          </a:p>
        </p:txBody>
      </p:sp>
      <p:sp>
        <p:nvSpPr>
          <p:cNvPr id="13" name="Oval 12"/>
          <p:cNvSpPr/>
          <p:nvPr/>
        </p:nvSpPr>
        <p:spPr>
          <a:xfrm>
            <a:off x="9235440" y="2011680"/>
            <a:ext cx="914400" cy="914400"/>
          </a:xfrm>
          <a:prstGeom prst="ellipse">
            <a:avLst/>
          </a:prstGeom>
          <a:solidFill>
            <a:srgbClr val="00B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Gmarket Sans TTF Bold"/>
                <a:ea typeface="Gmarket Sans TTF Bold"/>
              </a:rPr>
              <a:t>DEM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108960"/>
            <a:ext cx="3291840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3291840"/>
            <a:ext cx="2926080" cy="2468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Gmarket Sans TTF Bold"/>
                <a:ea typeface="Gmarket Sans TTF Bold"/>
              </a:rPr>
              <a:t>03 | Demos</a:t>
            </a:r>
          </a:p>
          <a:p>
            <a:pPr algn="ctr">
              <a:spcAft>
                <a:spcPts val="800"/>
              </a:spcAft>
            </a:pPr>
            <a:r>
              <a:rPr sz="1100" b="0">
                <a:solidFill>
                  <a:srgbClr val="00BC70"/>
                </a:solidFill>
                <a:latin typeface="Gmarket Sans TTF Bold"/>
                <a:ea typeface="Gmarket Sans TTF Bold"/>
              </a:rPr>
              <a:t>AIGravity Vision / SynthSound Lab</a:t>
            </a:r>
          </a:p>
          <a:p>
            <a:pPr algn="ctr"/>
            <a:r>
              <a:rPr sz="1100" b="0">
                <a:solidFill>
                  <a:srgbClr val="6E6E6E"/>
                </a:solidFill>
                <a:latin typeface="Gmarket Sans TTF Medium"/>
                <a:ea typeface="Gmarket Sans TTF Medium"/>
              </a:rPr>
              <a:t>웹 브라우저 상의 온디바이스 실시간 미디어 연산 시연 실험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00B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00" b="0">
                <a:solidFill>
                  <a:srgbClr val="00BC70"/>
                </a:solidFill>
                <a:latin typeface="Gmarket Sans TTF Bold"/>
                <a:ea typeface="Gmarket Sans TTF Bold"/>
              </a:rPr>
              <a:t>AIGRAVITY LAB | Development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86868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600" b="0">
                <a:solidFill>
                  <a:srgbClr val="1A1A1A"/>
                </a:solidFill>
                <a:latin typeface="Gmarket Sans TTF Bold"/>
                <a:ea typeface="Gmarket Sans TTF Bold"/>
              </a:rPr>
              <a:t>작업 프로세스 및 최종 빌드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457200"/>
            <a:ext cx="914400" cy="36576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1100" b="0">
                <a:solidFill>
                  <a:srgbClr val="00BC70"/>
                </a:solidFill>
                <a:latin typeface="Gmarket Sans TTF Bold"/>
                <a:ea typeface="Gmarket Sans TTF Bold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017520"/>
            <a:ext cx="10728655" cy="36576"/>
          </a:xfrm>
          <a:prstGeom prst="rect">
            <a:avLst/>
          </a:prstGeom>
          <a:solidFill>
            <a:srgbClr val="00B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00200" y="2670048"/>
            <a:ext cx="731520" cy="731520"/>
          </a:xfrm>
          <a:prstGeom prst="ellipse">
            <a:avLst/>
          </a:prstGeom>
          <a:solidFill>
            <a:srgbClr val="00B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Gmarket Sans TTF Bold"/>
                <a:ea typeface="Gmarket Sans TTF Bold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24688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2103120" cy="1920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Gmarket Sans TTF Bold"/>
                <a:ea typeface="Gmarket Sans TTF Bold"/>
              </a:rPr>
              <a:t>분석 및 백업</a:t>
            </a:r>
          </a:p>
          <a:p>
            <a:r>
              <a:rPr sz="1100" b="0">
                <a:solidFill>
                  <a:srgbClr val="6E6E6E"/>
                </a:solidFill>
                <a:latin typeface="Gmarket Sans TTF Medium"/>
                <a:ea typeface="Gmarket Sans TTF Medium"/>
              </a:rPr>
              <a:t>• 이전 작업 로그 분석
• 기존 정적 파일 이관
• 백업 디렉토리 구축 완료</a:t>
            </a:r>
          </a:p>
        </p:txBody>
      </p:sp>
      <p:sp>
        <p:nvSpPr>
          <p:cNvPr id="10" name="Oval 9"/>
          <p:cNvSpPr/>
          <p:nvPr/>
        </p:nvSpPr>
        <p:spPr>
          <a:xfrm>
            <a:off x="4343400" y="2670048"/>
            <a:ext cx="731520" cy="731520"/>
          </a:xfrm>
          <a:prstGeom prst="ellipse">
            <a:avLst/>
          </a:prstGeom>
          <a:solidFill>
            <a:srgbClr val="00B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Gmarket Sans TTF Bold"/>
                <a:ea typeface="Gmarket Sans TTF Bold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3657600"/>
            <a:ext cx="24688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3840480"/>
            <a:ext cx="2103120" cy="1920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Gmarket Sans TTF Bold"/>
                <a:ea typeface="Gmarket Sans TTF Bold"/>
              </a:rPr>
              <a:t>설계 및 교정</a:t>
            </a:r>
          </a:p>
          <a:p>
            <a:r>
              <a:rPr sz="1100" b="0">
                <a:solidFill>
                  <a:srgbClr val="6E6E6E"/>
                </a:solidFill>
                <a:latin typeface="Gmarket Sans TTF Medium"/>
                <a:ea typeface="Gmarket Sans TTF Medium"/>
              </a:rPr>
              <a:t>• 라우터 중복 오류 감쇄
• 컴파일러 범위 수립
• 파일명 대소문자 매칭</a:t>
            </a:r>
          </a:p>
        </p:txBody>
      </p:sp>
      <p:sp>
        <p:nvSpPr>
          <p:cNvPr id="13" name="Oval 12"/>
          <p:cNvSpPr/>
          <p:nvPr/>
        </p:nvSpPr>
        <p:spPr>
          <a:xfrm>
            <a:off x="7086600" y="2670048"/>
            <a:ext cx="731520" cy="731520"/>
          </a:xfrm>
          <a:prstGeom prst="ellipse">
            <a:avLst/>
          </a:prstGeom>
          <a:solidFill>
            <a:srgbClr val="00B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Gmarket Sans TTF Bold"/>
                <a:ea typeface="Gmarket Sans TTF Bold"/>
              </a:rPr>
              <a:t>03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657600"/>
            <a:ext cx="24688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840480"/>
            <a:ext cx="2103120" cy="1920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Gmarket Sans TTF Bold"/>
                <a:ea typeface="Gmarket Sans TTF Bold"/>
              </a:rPr>
              <a:t>시각 자산 매핑</a:t>
            </a:r>
          </a:p>
          <a:p>
            <a:r>
              <a:rPr sz="1100" b="0">
                <a:solidFill>
                  <a:srgbClr val="6E6E6E"/>
                </a:solidFill>
                <a:latin typeface="Gmarket Sans TTF Medium"/>
                <a:ea typeface="Gmarket Sans TTF Medium"/>
              </a:rPr>
              <a:t>• 3D 추상화 비주얼 에셋
  경로 재설계 및 매핑
• public/images 배치</a:t>
            </a:r>
          </a:p>
        </p:txBody>
      </p:sp>
      <p:sp>
        <p:nvSpPr>
          <p:cNvPr id="16" name="Oval 15"/>
          <p:cNvSpPr/>
          <p:nvPr/>
        </p:nvSpPr>
        <p:spPr>
          <a:xfrm>
            <a:off x="9829800" y="2670048"/>
            <a:ext cx="731520" cy="731520"/>
          </a:xfrm>
          <a:prstGeom prst="ellipse">
            <a:avLst/>
          </a:prstGeom>
          <a:solidFill>
            <a:srgbClr val="00B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Gmarket Sans TTF Bold"/>
                <a:ea typeface="Gmarket Sans TTF Bold"/>
              </a:rPr>
              <a:t>04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3657600"/>
            <a:ext cx="24688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3840480"/>
            <a:ext cx="2103120" cy="1920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Gmarket Sans TTF Bold"/>
                <a:ea typeface="Gmarket Sans TTF Bold"/>
              </a:rPr>
              <a:t>검증 및 빌드</a:t>
            </a:r>
          </a:p>
          <a:p>
            <a:r>
              <a:rPr sz="1100" b="0">
                <a:solidFill>
                  <a:srgbClr val="6E6E6E"/>
                </a:solidFill>
                <a:latin typeface="Gmarket Sans TTF Medium"/>
                <a:ea typeface="Gmarket Sans TTF Medium"/>
              </a:rPr>
              <a:t>• npx next build 실행
• 9개 정적 페이지 빌드
• 무결점 컴파일 성공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D3F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85340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4000" b="0">
                <a:solidFill>
                  <a:srgbClr val="00BC70"/>
                </a:solidFill>
                <a:latin typeface="Gmarket Sans TTF Bold"/>
                <a:ea typeface="Gmarket Sans TTF Bold"/>
              </a:rPr>
              <a:t>Let's build intelligence together.</a:t>
            </a:r>
          </a:p>
          <a:p>
            <a:pPr algn="ctr">
              <a:spcAft>
                <a:spcPts val="2400"/>
              </a:spcAft>
            </a:pPr>
            <a:r>
              <a:rPr sz="1800" b="0">
                <a:solidFill>
                  <a:srgbClr val="1A1A1A"/>
                </a:solidFill>
                <a:latin typeface="Gmarket Sans TTF Bold"/>
                <a:ea typeface="Gmarket Sans TTF Bold"/>
              </a:rPr>
              <a:t>지능형 AI 모델과 미니멀 엔지니어링 미학의 융합</a:t>
            </a:r>
          </a:p>
          <a:p>
            <a:pPr algn="ctr"/>
            <a:r>
              <a:rPr sz="1400" b="0">
                <a:solidFill>
                  <a:srgbClr val="6E6E6E"/>
                </a:solidFill>
                <a:latin typeface="Gmarket Sans TTF Medium"/>
                <a:ea typeface="Gmarket Sans TTF Medium"/>
              </a:rPr>
              <a:t>Contact: kwonk0621@naver.com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