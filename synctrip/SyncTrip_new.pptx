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0" y="914400"/>
            <a:ext cx="4114800" cy="5029200"/>
          </a:xfrm>
          <a:prstGeom prst="roundRect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217920" y="2011680"/>
            <a:ext cx="3291840" cy="3291840"/>
          </a:xfrm>
          <a:prstGeom prst="ellipse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61120" y="3291840"/>
            <a:ext cx="2560320" cy="2560320"/>
          </a:xfrm>
          <a:prstGeom prst="roundRect">
            <a:avLst/>
          </a:prstGeom>
          <a:solidFill>
            <a:srgbClr val="FFF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00BC70"/>
                </a:solidFill>
                <a:latin typeface="A2Z 7 Bold"/>
                <a:ea typeface="에이투지체 7 Bold"/>
              </a:rPr>
              <a:t>SERVICE PROPOSAL  | 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5800" b="1">
                <a:solidFill>
                  <a:srgbClr val="00BC70"/>
                </a:solidFill>
                <a:latin typeface="KIMMBold"/>
                <a:ea typeface="한국기계연구원_Bold"/>
              </a:rPr>
              <a:t>SyncTrip</a:t>
            </a:r>
          </a:p>
          <a:p>
            <a:r>
              <a:rPr sz="2000" b="0">
                <a:solidFill>
                  <a:srgbClr val="1A1A1A"/>
                </a:solidFill>
                <a:latin typeface="A2Z 5 Medium"/>
                <a:ea typeface="에이투지체 5 Medium"/>
              </a:rPr>
              <a:t>나의 여행 스타일과 100% 싱크되는
신뢰받는 버디 찾기 서비스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00BC70"/>
                </a:solidFill>
                <a:latin typeface="A2Z 5 Medium"/>
                <a:ea typeface="에이투지체 5 Medium"/>
              </a:rPr>
              <a:t>SyncTrip | 기획 배경 및 해결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600" b="0">
                <a:solidFill>
                  <a:srgbClr val="1A1A1A"/>
                </a:solidFill>
                <a:latin typeface="KIMMBold"/>
                <a:ea typeface="한국기계연구원_Bold"/>
              </a:rPr>
              <a:t>서비스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457200"/>
            <a:ext cx="914400" cy="36576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1100" b="1">
                <a:solidFill>
                  <a:srgbClr val="00BC70"/>
                </a:solidFill>
                <a:latin typeface="A2Z 5 Medium"/>
                <a:ea typeface="에이투지체 5 Medium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828800"/>
            <a:ext cx="9144" cy="4114800"/>
          </a:xfrm>
          <a:prstGeom prst="rect">
            <a:avLst/>
          </a:prstGeom>
          <a:solidFill>
            <a:srgbClr val="D2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E6E6E"/>
                </a:solidFill>
                <a:latin typeface="A2Z 7 Bold"/>
                <a:ea typeface="에이투지체 7 Bold"/>
              </a:rPr>
              <a:t>기획 배경 (Problem)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BC70"/>
                </a:solidFill>
                <a:latin typeface="A2Z 7 Bold"/>
                <a:ea typeface="에이투지체 7 Bold"/>
              </a:rPr>
              <a:t>해결 방안 (Solution)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50292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66344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A2Z 7 Bold"/>
                <a:ea typeface="에이투지체 7 Bold"/>
              </a:rPr>
              <a:t>LIMIT 01  |  </a:t>
            </a:r>
            <a:r>
              <a:rPr sz="1400" b="0">
                <a:solidFill>
                  <a:srgbClr val="1A1A1A"/>
                </a:solidFill>
                <a:latin typeface="A2Z 7 Bold"/>
                <a:ea typeface="에이투지체 7 Bold"/>
              </a:rPr>
              <a:t>가치관 차이로 인한 동행 갈등</a:t>
            </a:r>
          </a:p>
          <a:p>
            <a:r>
              <a:rPr sz="1100" b="0">
                <a:solidFill>
                  <a:srgbClr val="6E6E6E"/>
                </a:solidFill>
                <a:latin typeface="A2Z 4 Regular"/>
                <a:ea typeface="에이투지체 4 Regular"/>
              </a:rPr>
              <a:t>• 성별, 연령대 등의 1차원적 조건에만 의존하여 실제 여행 중 식사, 쇼핑, 활동량, 가치관 차이로 심각한 트러블이 빈번하게 발생함.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0292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466344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A2Z 7 Bold"/>
                <a:ea typeface="에이투지체 7 Bold"/>
              </a:rPr>
              <a:t>LIMIT 02  |  </a:t>
            </a:r>
            <a:r>
              <a:rPr sz="1400" b="0">
                <a:solidFill>
                  <a:srgbClr val="1A1A1A"/>
                </a:solidFill>
                <a:latin typeface="A2Z 7 Bold"/>
                <a:ea typeface="에이투지체 7 Bold"/>
              </a:rPr>
              <a:t>신원 보증 한계와 안전성 문제</a:t>
            </a:r>
          </a:p>
          <a:p>
            <a:r>
              <a:rPr sz="1100" b="0">
                <a:solidFill>
                  <a:srgbClr val="6E6E6E"/>
                </a:solidFill>
                <a:latin typeface="A2Z 4 Regular"/>
                <a:ea typeface="에이투지체 4 Regular"/>
              </a:rPr>
              <a:t>• 온라인 동행 구인의 특성상 상대방의 실제 신원을 보증하기 어려워, 노쇼(No-show) 트러블이나 범죄 노출 등 안전상의 위협 요소 존재.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011680"/>
            <a:ext cx="5120640" cy="1207008"/>
          </a:xfrm>
          <a:prstGeom prst="roundRect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4754880" cy="8412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00BC70"/>
                </a:solidFill>
                <a:latin typeface="A2Z 7 Bold"/>
                <a:ea typeface="에이투지체 7 Bold"/>
              </a:rPr>
              <a:t>✓  정밀 성향 스코어 매칭</a:t>
            </a:r>
          </a:p>
          <a:p>
            <a:r>
              <a:rPr sz="1050" b="0">
                <a:solidFill>
                  <a:srgbClr val="1A1A1A"/>
                </a:solidFill>
                <a:latin typeface="A2Z 4 Regular"/>
                <a:ea typeface="에이투지체 4 Regular"/>
              </a:rPr>
              <a:t>MBTI와 12개 여행 세부 성향(음주, 흡연, 숙소 취향 등) 매칭을 통한 다차원 호환성 점수 산출 및 매칭 추천.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364992"/>
            <a:ext cx="5120640" cy="1207008"/>
          </a:xfrm>
          <a:prstGeom prst="roundRect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547872"/>
            <a:ext cx="4754880" cy="8412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00BC70"/>
                </a:solidFill>
                <a:latin typeface="A2Z 7 Bold"/>
                <a:ea typeface="에이투지체 7 Bold"/>
              </a:rPr>
              <a:t>✓  이중 안전 인증 배지 시스템</a:t>
            </a:r>
          </a:p>
          <a:p>
            <a:r>
              <a:rPr sz="1050" b="0">
                <a:solidFill>
                  <a:srgbClr val="1A1A1A"/>
                </a:solidFill>
                <a:latin typeface="A2Z 4 Regular"/>
                <a:ea typeface="에이투지체 4 Regular"/>
              </a:rPr>
              <a:t>카카오톡 실명 본인인증 및 소속 대학/직장 기관 이메일 인증을 도입하여 투명하고 안심할 수 있는 신뢰 체계 구축.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718304"/>
            <a:ext cx="5120640" cy="1207008"/>
          </a:xfrm>
          <a:prstGeom prst="roundRect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901184"/>
            <a:ext cx="4754880" cy="8412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00BC70"/>
                </a:solidFill>
                <a:latin typeface="A2Z 7 Bold"/>
                <a:ea typeface="에이투지체 7 Bold"/>
              </a:rPr>
              <a:t>✓  AI 여행자 페르소나 리포트</a:t>
            </a:r>
          </a:p>
          <a:p>
            <a:r>
              <a:rPr sz="1050" b="0">
                <a:solidFill>
                  <a:srgbClr val="1A1A1A"/>
                </a:solidFill>
                <a:latin typeface="A2Z 4 Regular"/>
                <a:ea typeface="에이투지체 4 Regular"/>
              </a:rPr>
              <a:t>설문 조사를 통해 AI가 사용자의 여행 스타일을 종합 분석하여 직관적인 칭호와 상세한 행동 요령 리포트를 제공.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00BC70"/>
                </a:solidFill>
                <a:latin typeface="A2Z 5 Medium"/>
                <a:ea typeface="에이투지체 5 Medium"/>
              </a:rPr>
              <a:t>SyncTrip | 핵심 기능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600" b="0">
                <a:solidFill>
                  <a:srgbClr val="1A1A1A"/>
                </a:solidFill>
                <a:latin typeface="KIMMBold"/>
                <a:ea typeface="한국기계연구원_Bold"/>
              </a:rPr>
              <a:t>서비스 구현 범위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457200"/>
            <a:ext cx="914400" cy="36576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1100" b="1">
                <a:solidFill>
                  <a:srgbClr val="00BC70"/>
                </a:solidFill>
                <a:latin typeface="A2Z 5 Medium"/>
                <a:ea typeface="에이투지체 5 Medium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486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1206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00BC70"/>
                </a:solidFill>
                <a:latin typeface="A2Z 7 Bold"/>
                <a:ea typeface="에이투지체 7 Bold"/>
              </a:rPr>
              <a:t>01. 동적 온보딩 및 프로필 수정</a:t>
            </a:r>
          </a:p>
          <a:p>
            <a:r>
              <a:rPr sz="950" b="0">
                <a:solidFill>
                  <a:srgbClr val="1A1A1A"/>
                </a:solidFill>
                <a:latin typeface="A2Z 4 Regular"/>
                <a:ea typeface="에이투지체 4 Regular"/>
              </a:rPr>
              <a:t>MBTI, 언어, 여행 상태 및 12종의 심층 여행 성향 설정 지원. 터치형 국가 선택 슬라이드업 바텀 시트를 제공하여 사용자 편의성 극대화.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5486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51206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00BC70"/>
                </a:solidFill>
                <a:latin typeface="A2Z 7 Bold"/>
                <a:ea typeface="에이투지체 7 Bold"/>
              </a:rPr>
              <a:t>02. 카테고리별 매칭 대시보드</a:t>
            </a:r>
          </a:p>
          <a:p>
            <a:r>
              <a:rPr sz="950" b="0">
                <a:solidFill>
                  <a:srgbClr val="1A1A1A"/>
                </a:solidFill>
                <a:latin typeface="A2Z 4 Regular"/>
                <a:ea typeface="에이투지체 4 Regular"/>
              </a:rPr>
              <a:t>3:4 비율 모바일 가로 스와이프 피드 제공. '같은 MBTI 동행', '여행지 공통', '활동량 유사' 등 필터링을 통해 최적화된 동행 추천.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486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51206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00BC70"/>
                </a:solidFill>
                <a:latin typeface="A2Z 7 Bold"/>
                <a:ea typeface="에이투지체 7 Bold"/>
              </a:rPr>
              <a:t>03. 나비효과 성향 비교 상세</a:t>
            </a:r>
          </a:p>
          <a:p>
            <a:r>
              <a:rPr sz="950" b="0">
                <a:solidFill>
                  <a:srgbClr val="1A1A1A"/>
                </a:solidFill>
                <a:latin typeface="A2Z 4 Regular"/>
                <a:ea typeface="에이투지체 4 Regular"/>
              </a:rPr>
              <a:t>상대방 상세 프로필 페이지에서 나와 일치하는 성향 요소를 일치 분석. 일치하는 성향 칩을 노란색 하이라이팅으로 표시하여 한눈에 파악.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66360"/>
            <a:ext cx="5486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51206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00BC70"/>
                </a:solidFill>
                <a:latin typeface="A2Z 7 Bold"/>
                <a:ea typeface="에이투지체 7 Bold"/>
              </a:rPr>
              <a:t>04. 실시간 대화 제안 및 보존</a:t>
            </a:r>
          </a:p>
          <a:p>
            <a:r>
              <a:rPr sz="950" b="0">
                <a:solidFill>
                  <a:srgbClr val="1A1A1A"/>
                </a:solidFill>
                <a:latin typeface="A2Z 4 Regular"/>
                <a:ea typeface="에이투지체 4 Regular"/>
              </a:rPr>
              <a:t>앱 진입 3분 내 랜덤 사용자가 대화를 거는 실시간 드롭다운 토스트 알림 기능 구현. WebSocket &amp; Supabase 연동으로 실시간 알림 보존.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1737360"/>
            <a:ext cx="3291840" cy="4480560"/>
          </a:xfrm>
          <a:prstGeom prst="roundRect">
            <a:avLst/>
          </a:prstGeom>
          <a:solidFill>
            <a:srgbClr val="FFFFFF"/>
          </a:solidFill>
          <a:ln w="44450">
            <a:solidFill>
              <a:srgbClr val="00B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847088"/>
            <a:ext cx="1097280" cy="109728"/>
          </a:xfrm>
          <a:prstGeom prst="roundRect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69480" y="2057400"/>
            <a:ext cx="3017520" cy="4023360"/>
          </a:xfrm>
          <a:prstGeom prst="roundRect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06640" y="2194560"/>
            <a:ext cx="2743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89520" y="2377440"/>
            <a:ext cx="822960" cy="822960"/>
          </a:xfrm>
          <a:prstGeom prst="ellipse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2423160"/>
            <a:ext cx="1371600" cy="274320"/>
          </a:xfrm>
          <a:prstGeom prst="roundRect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800" b="0">
                <a:solidFill>
                  <a:srgbClr val="FFFFFF"/>
                </a:solidFill>
                <a:latin typeface="A2Z 7 Bold"/>
                <a:ea typeface="에이투지체 7 Bold"/>
              </a:rPr>
              <a:t>✓ 이중 안전 배지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743200"/>
            <a:ext cx="1371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A2Z 7 Bold"/>
                <a:ea typeface="에이투지체 7 Bold"/>
              </a:rPr>
              <a:t>민수  (24)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3383280"/>
            <a:ext cx="2377440" cy="73152"/>
          </a:xfrm>
          <a:prstGeom prst="rect">
            <a:avLst/>
          </a:prstGeom>
          <a:solidFill>
            <a:srgbClr val="D2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89520" y="3520440"/>
            <a:ext cx="1828800" cy="73152"/>
          </a:xfrm>
          <a:prstGeom prst="rect">
            <a:avLst/>
          </a:prstGeom>
          <a:solidFill>
            <a:srgbClr val="D2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89520" y="3703320"/>
            <a:ext cx="1097280" cy="320040"/>
          </a:xfrm>
          <a:prstGeom prst="roundRect">
            <a:avLst/>
          </a:prstGeom>
          <a:solidFill>
            <a:srgbClr val="FFF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800" b="0">
                <a:solidFill>
                  <a:srgbClr val="1A1A1A"/>
                </a:solidFill>
                <a:latin typeface="A2Z 7 Bold"/>
                <a:ea typeface="에이투지체 7 Bold"/>
              </a:rPr>
              <a:t>✓ 쇼핑 선호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3703320"/>
            <a:ext cx="1097280" cy="320040"/>
          </a:xfrm>
          <a:prstGeom prst="roundRect">
            <a:avLst/>
          </a:prstGeom>
          <a:solidFill>
            <a:srgbClr val="FFF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800" b="0">
                <a:solidFill>
                  <a:srgbClr val="1A1A1A"/>
                </a:solidFill>
                <a:latin typeface="A2Z 7 Bold"/>
                <a:ea typeface="에이투지체 7 Bold"/>
              </a:rPr>
              <a:t>✓ 계획형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5029200"/>
            <a:ext cx="2743200" cy="777240"/>
          </a:xfrm>
          <a:prstGeom prst="roundRect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D3F5DD"/>
                </a:solidFill>
                <a:latin typeface="A2Z 7 Bold"/>
                <a:ea typeface="에이투지체 7 Bold"/>
              </a:rPr>
              <a:t>실시간 대화 제안 도착  |  3분 전</a:t>
            </a:r>
          </a:p>
          <a:p>
            <a:r>
              <a:rPr sz="900" b="0">
                <a:solidFill>
                  <a:srgbClr val="FFFFFF"/>
                </a:solidFill>
                <a:latin typeface="A2Z 4 Regular"/>
                <a:ea typeface="에이투지체 4 Regular"/>
              </a:rPr>
              <a:t>'준수'님이 대화를 제안했습니다. [대화하기]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00BC70"/>
                </a:solidFill>
                <a:latin typeface="A2Z 5 Medium"/>
                <a:ea typeface="에이투지체 5 Medium"/>
              </a:rPr>
              <a:t>SyncTrip | 작업 프로세스 및 UI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600" b="0">
                <a:solidFill>
                  <a:srgbClr val="1A1A1A"/>
                </a:solidFill>
                <a:latin typeface="KIMMBold"/>
                <a:ea typeface="한국기계연구원_Bold"/>
              </a:rPr>
              <a:t>서비스 UI 및 레퍼런스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457200"/>
            <a:ext cx="914400" cy="36576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1100" b="1">
                <a:solidFill>
                  <a:srgbClr val="00BC70"/>
                </a:solidFill>
                <a:latin typeface="A2Z 5 Medium"/>
                <a:ea typeface="에이투지체 5 Medium"/>
              </a:rPr>
              <a:t>04</a:t>
            </a:r>
          </a:p>
        </p:txBody>
      </p:sp>
      <p:sp>
        <p:nvSpPr>
          <p:cNvPr id="6" name="Isosceles Triangle 5"/>
          <p:cNvSpPr/>
          <p:nvPr/>
        </p:nvSpPr>
        <p:spPr>
          <a:xfrm rot="5400000">
            <a:off x="2706624" y="2103120"/>
            <a:ext cx="182880" cy="274320"/>
          </a:xfrm>
          <a:prstGeom prst="triangle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4919472" y="2103120"/>
            <a:ext cx="182880" cy="274320"/>
          </a:xfrm>
          <a:prstGeom prst="triangle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7132320" y="2103120"/>
            <a:ext cx="182880" cy="274320"/>
          </a:xfrm>
          <a:prstGeom prst="triangle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9345168" y="2103120"/>
            <a:ext cx="182880" cy="274320"/>
          </a:xfrm>
          <a:prstGeom prst="triangle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1920240" cy="1005840"/>
          </a:xfrm>
          <a:prstGeom prst="roundRect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15544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00BC70"/>
                </a:solidFill>
                <a:latin typeface="A2Z 7 Bold"/>
                <a:ea typeface="에이투지체 7 Bold"/>
              </a:rPr>
              <a:t>STEP 01</a:t>
            </a:r>
          </a:p>
          <a:p>
            <a:pPr algn="ctr"/>
            <a:r>
              <a:rPr sz="1150" b="0">
                <a:solidFill>
                  <a:srgbClr val="1A1A1A"/>
                </a:solidFill>
                <a:latin typeface="A2Z 7 Bold"/>
                <a:ea typeface="에이투지체 7 Bold"/>
              </a:rPr>
              <a:t>온보딩
(성향 조사)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4368" y="1737360"/>
            <a:ext cx="1920240" cy="1005840"/>
          </a:xfrm>
          <a:prstGeom prst="roundRect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7248" y="1920240"/>
            <a:ext cx="15544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00BC70"/>
                </a:solidFill>
                <a:latin typeface="A2Z 7 Bold"/>
                <a:ea typeface="에이투지체 7 Bold"/>
              </a:rPr>
              <a:t>STEP 02</a:t>
            </a:r>
          </a:p>
          <a:p>
            <a:pPr algn="ctr"/>
            <a:r>
              <a:rPr sz="1150" b="0">
                <a:solidFill>
                  <a:srgbClr val="1A1A1A"/>
                </a:solidFill>
                <a:latin typeface="A2Z 7 Bold"/>
                <a:ea typeface="에이투지체 7 Bold"/>
              </a:rPr>
              <a:t>매칭 피드
탐색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57216" y="1737360"/>
            <a:ext cx="1920240" cy="1005840"/>
          </a:xfrm>
          <a:prstGeom prst="roundRect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0096" y="1920240"/>
            <a:ext cx="15544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00BC70"/>
                </a:solidFill>
                <a:latin typeface="A2Z 7 Bold"/>
                <a:ea typeface="에이투지체 7 Bold"/>
              </a:rPr>
              <a:t>STEP 03</a:t>
            </a:r>
          </a:p>
          <a:p>
            <a:pPr algn="ctr"/>
            <a:r>
              <a:rPr sz="1150" b="0">
                <a:solidFill>
                  <a:srgbClr val="1A1A1A"/>
                </a:solidFill>
                <a:latin typeface="A2Z 7 Bold"/>
                <a:ea typeface="에이투지체 7 Bold"/>
              </a:rPr>
              <a:t>상대 상세비교
(나비효과)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70064" y="1737360"/>
            <a:ext cx="1920240" cy="1005840"/>
          </a:xfrm>
          <a:prstGeom prst="roundRect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2944" y="1920240"/>
            <a:ext cx="15544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00BC70"/>
                </a:solidFill>
                <a:latin typeface="A2Z 7 Bold"/>
                <a:ea typeface="에이투지체 7 Bold"/>
              </a:rPr>
              <a:t>STEP 04</a:t>
            </a:r>
          </a:p>
          <a:p>
            <a:pPr algn="ctr"/>
            <a:r>
              <a:rPr sz="1150" b="0">
                <a:solidFill>
                  <a:srgbClr val="1A1A1A"/>
                </a:solidFill>
                <a:latin typeface="A2Z 7 Bold"/>
                <a:ea typeface="에이투지체 7 Bold"/>
              </a:rPr>
              <a:t>매칭 신청/
대화 제안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2912" y="1737360"/>
            <a:ext cx="1920240" cy="1005840"/>
          </a:xfrm>
          <a:prstGeom prst="roundRect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65792" y="1920240"/>
            <a:ext cx="15544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00BC70"/>
                </a:solidFill>
                <a:latin typeface="A2Z 7 Bold"/>
                <a:ea typeface="에이투지체 7 Bold"/>
              </a:rPr>
              <a:t>STEP 05</a:t>
            </a:r>
          </a:p>
          <a:p>
            <a:pPr algn="ctr"/>
            <a:r>
              <a:rPr sz="1150" b="0">
                <a:solidFill>
                  <a:srgbClr val="1A1A1A"/>
                </a:solidFill>
                <a:latin typeface="A2Z 7 Bold"/>
                <a:ea typeface="에이투지체 7 Bold"/>
              </a:rPr>
              <a:t>1:1 채팅
소통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00400"/>
            <a:ext cx="3328416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383280"/>
            <a:ext cx="2962656" cy="2560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350" b="0">
                <a:solidFill>
                  <a:srgbClr val="00BC70"/>
                </a:solidFill>
                <a:latin typeface="A2Z 7 Bold"/>
                <a:ea typeface="에이투지체 7 Bold"/>
              </a:rPr>
              <a:t>✓  네이버/라인 테마 컬러 일체화</a:t>
            </a:r>
          </a:p>
          <a:p>
            <a:pPr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A2Z 4 Regular"/>
                <a:ea typeface="에이투지체 4 Regular"/>
              </a:rPr>
              <a:t>메인 포인트 컬러로 네이버/라인 테마 색상(#00C73C / #00BC70)을 선정하여 신뢰도와 역동성이 가미된 현대적 분위기를 고취합니다. 깔끔하고 밝은 톤의 녹색 계열을 메인으로 사용해 젊은 사용자들의 만족도를 극대화했습니다.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5696" y="3200400"/>
            <a:ext cx="3328416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3383280"/>
            <a:ext cx="2962656" cy="2560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350" b="0">
                <a:solidFill>
                  <a:srgbClr val="00BC70"/>
                </a:solidFill>
                <a:latin typeface="A2Z 7 Bold"/>
                <a:ea typeface="에이투지체 7 Bold"/>
              </a:rPr>
              <a:t>✓  레퍼런스 디자인 100% 반영</a:t>
            </a:r>
          </a:p>
          <a:p>
            <a:pPr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A2Z 4 Regular"/>
                <a:ea typeface="에이투지체 4 Regular"/>
              </a:rPr>
              <a:t>3:4 가로 스와이프 레이아웃, 신뢰할 수 있는 사용자 배지(카카오톡 본인인증 및 소속 직장/학교 인증 마크), 초록색 체크(✓) 등의 기획안 요소를 완벽히 재현하여 기획 의도를 충실하게 시각화하였습니다.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9872" y="3200400"/>
            <a:ext cx="3328416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383280"/>
            <a:ext cx="2962656" cy="2560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350" b="0">
                <a:solidFill>
                  <a:srgbClr val="00BC70"/>
                </a:solidFill>
                <a:latin typeface="A2Z 7 Bold"/>
                <a:ea typeface="에이투지체 7 Bold"/>
              </a:rPr>
              <a:t>✓  반응형 브라우저 레이아웃</a:t>
            </a:r>
          </a:p>
          <a:p>
            <a:pPr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A2Z 4 Regular"/>
                <a:ea typeface="에이투지체 4 Regular"/>
              </a:rPr>
              <a:t>모바일 화면 가로/세로 비율(Mobile Aspect Ratio)이 데스크톱 브라우저 환경에서 늘어나거나 찌그러지지 않고 좌우 마진이 잡힌 상태로 원본 비율이 유지되도록 최적화된 반응형 목업 배치를 연출하였습니다.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00BC70"/>
                </a:solidFill>
                <a:latin typeface="A2Z 5 Medium"/>
                <a:ea typeface="에이투지체 5 Medium"/>
              </a:rPr>
              <a:t>SyncTrip | 아키텍처 및 DB 스키마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600" b="0">
                <a:solidFill>
                  <a:srgbClr val="1A1A1A"/>
                </a:solidFill>
                <a:latin typeface="KIMMBold"/>
                <a:ea typeface="한국기계연구원_Bold"/>
              </a:rPr>
              <a:t>백엔드 및 DB 구성 (ERD)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457200"/>
            <a:ext cx="914400" cy="36576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1100" b="1">
                <a:solidFill>
                  <a:srgbClr val="00BC70"/>
                </a:solidFill>
                <a:latin typeface="A2Z 5 Medium"/>
                <a:ea typeface="에이투지체 5 Medium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937760" cy="1188720"/>
          </a:xfrm>
          <a:prstGeom prst="roundRect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00BC70"/>
                </a:solidFill>
                <a:latin typeface="A2Z 7 Bold"/>
                <a:ea typeface="에이투지체 7 Bold"/>
              </a:rPr>
              <a:t>▪  클라우드 Supabase DB 연동</a:t>
            </a:r>
          </a:p>
          <a:p>
            <a:pPr>
              <a:lnSpc>
                <a:spcPct val="110000"/>
              </a:lnSpc>
            </a:pPr>
            <a:r>
              <a:rPr sz="1050" b="0">
                <a:solidFill>
                  <a:srgbClr val="1A1A1A"/>
                </a:solidFill>
                <a:latin typeface="A2Z 4 Regular"/>
                <a:ea typeface="에이투지체 4 Regular"/>
              </a:rPr>
              <a:t>PostgreSQL 기반의 Supabase 클라우드 데이터베이스 인프라 구축을 신속하게 완료하고, 실시간 연결 서비스를 바탕으로 유기적인 통신 구조를 실현하였습니다.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4937760" cy="1188720"/>
          </a:xfrm>
          <a:prstGeom prst="roundRect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57200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00BC70"/>
                </a:solidFill>
                <a:latin typeface="A2Z 7 Bold"/>
                <a:ea typeface="에이투지체 7 Bold"/>
              </a:rPr>
              <a:t>▪  실시간 실소통 동기화 처리</a:t>
            </a:r>
          </a:p>
          <a:p>
            <a:pPr>
              <a:lnSpc>
                <a:spcPct val="110000"/>
              </a:lnSpc>
            </a:pPr>
            <a:r>
              <a:rPr sz="1050" b="0">
                <a:solidFill>
                  <a:srgbClr val="1A1A1A"/>
                </a:solidFill>
                <a:latin typeface="A2Z 4 Regular"/>
                <a:ea typeface="에이투지체 4 Regular"/>
              </a:rPr>
              <a:t>클라이언트 동작과 Supabase DB 테이블 간의 양방향 연동을 통한 실시간 매칭 동기화 처리를 구축하여 끊김 없고 부드러운 대화 제안 프로세스를 보장합니다.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4937760" cy="1188720"/>
          </a:xfrm>
          <a:prstGeom prst="roundRect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457200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00BC70"/>
                </a:solidFill>
                <a:latin typeface="A2Z 7 Bold"/>
                <a:ea typeface="에이투지체 7 Bold"/>
              </a:rPr>
              <a:t>▪  예외 처리 (Fallback 하이브리드)</a:t>
            </a:r>
          </a:p>
          <a:p>
            <a:pPr>
              <a:lnSpc>
                <a:spcPct val="110000"/>
              </a:lnSpc>
            </a:pPr>
            <a:r>
              <a:rPr sz="1050" b="0">
                <a:solidFill>
                  <a:srgbClr val="1A1A1A"/>
                </a:solidFill>
                <a:latin typeface="A2Z 4 Regular"/>
                <a:ea typeface="에이투지체 4 Regular"/>
              </a:rPr>
              <a:t>Supabase DB Key 미설정 및 오프라인 상태에서도 LocalStorage 데이터 엔진으로 원활히 작동을 이어갈 수 있도록 보장하는 안정적 아키텍처를 적용했습니다.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828800"/>
            <a:ext cx="5425135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ynctrip_clean_erd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938528"/>
            <a:ext cx="5205679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00BC70"/>
                </a:solidFill>
                <a:latin typeface="A2Z 5 Medium"/>
                <a:ea typeface="에이투지체 5 Medium"/>
              </a:rPr>
              <a:t>SyncTrip | 핵심 기능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600" b="0">
                <a:solidFill>
                  <a:srgbClr val="1A1A1A"/>
                </a:solidFill>
                <a:latin typeface="KIMMBold"/>
                <a:ea typeface="한국기계연구원_Bold"/>
              </a:rPr>
              <a:t>서비스 이용 시연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457200"/>
            <a:ext cx="914400" cy="36576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1100" b="1">
                <a:solidFill>
                  <a:srgbClr val="00BC70"/>
                </a:solidFill>
                <a:latin typeface="A2Z 5 Medium"/>
                <a:ea typeface="에이투지체 5 Medium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10771632" cy="18288"/>
          </a:xfrm>
          <a:prstGeom prst="rect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99339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627632" cy="2743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A2Z 7 Bold"/>
                <a:ea typeface="에이투지체 7 Bold"/>
              </a:rPr>
              <a:t>프로필/국가선택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6E6E6E"/>
                </a:solidFill>
                <a:latin typeface="A2Z 4 Regular"/>
                <a:ea typeface="에이투지체 4 Regular"/>
              </a:rPr>
              <a:t>마이페이지에서 수정 클릭 후 신규 '국가 선택 바텀 시트' 시연. 가고 싶은 나라(일본, 몽골 등)를 직관적으로 선택하고 저장하는 UX 흐름 강조.</a:t>
            </a:r>
          </a:p>
        </p:txBody>
      </p:sp>
      <p:sp>
        <p:nvSpPr>
          <p:cNvPr id="9" name="Oval 8"/>
          <p:cNvSpPr/>
          <p:nvPr/>
        </p:nvSpPr>
        <p:spPr>
          <a:xfrm>
            <a:off x="1408176" y="2057400"/>
            <a:ext cx="640080" cy="640080"/>
          </a:xfrm>
          <a:prstGeom prst="ellipse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1300" b="0">
                <a:solidFill>
                  <a:srgbClr val="FFFFFF"/>
                </a:solidFill>
                <a:latin typeface="KIMMBold"/>
                <a:ea typeface="한국기계연구원_Bold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743200"/>
            <a:ext cx="199339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926080"/>
            <a:ext cx="1627632" cy="2743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A2Z 7 Bold"/>
                <a:ea typeface="에이투지체 7 Bold"/>
              </a:rPr>
              <a:t>대시보드 추천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6E6E6E"/>
                </a:solidFill>
                <a:latin typeface="A2Z 4 Regular"/>
                <a:ea typeface="에이투지체 4 Regular"/>
              </a:rPr>
              <a:t>성향 정보가 입력되면 대시보드 추천 리스트에 상대 카드 실시간 집계. 3:4 스와이프 카드를 가로로 넘기며 나와 잘 맞는 사람들의 프로필 리스트 확인.</a:t>
            </a:r>
          </a:p>
        </p:txBody>
      </p:sp>
      <p:sp>
        <p:nvSpPr>
          <p:cNvPr id="12" name="Oval 11"/>
          <p:cNvSpPr/>
          <p:nvPr/>
        </p:nvSpPr>
        <p:spPr>
          <a:xfrm>
            <a:off x="3602736" y="2057400"/>
            <a:ext cx="640080" cy="640080"/>
          </a:xfrm>
          <a:prstGeom prst="ellipse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1300" b="0">
                <a:solidFill>
                  <a:srgbClr val="FFFFFF"/>
                </a:solidFill>
                <a:latin typeface="KIMMBold"/>
                <a:ea typeface="한국기계연구원_Bold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743200"/>
            <a:ext cx="199339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926080"/>
            <a:ext cx="1627632" cy="2743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A2Z 7 Bold"/>
                <a:ea typeface="에이투지체 7 Bold"/>
              </a:rPr>
              <a:t>상세 매치 분석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6E6E6E"/>
                </a:solidFill>
                <a:latin typeface="A2Z 4 Regular"/>
                <a:ea typeface="에이투지체 4 Regular"/>
              </a:rPr>
              <a:t>추천된 카드 클릭 시 '나비효과 성향 비교' 상세로 이동. 상대와 나의 성향 중 겹치는 항목이 노란색 칩으로 하이라이트 표현되는 효과 시연.</a:t>
            </a:r>
          </a:p>
        </p:txBody>
      </p:sp>
      <p:sp>
        <p:nvSpPr>
          <p:cNvPr id="15" name="Oval 14"/>
          <p:cNvSpPr/>
          <p:nvPr/>
        </p:nvSpPr>
        <p:spPr>
          <a:xfrm>
            <a:off x="5797296" y="2057400"/>
            <a:ext cx="640080" cy="640080"/>
          </a:xfrm>
          <a:prstGeom prst="ellipse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1300" b="0">
                <a:solidFill>
                  <a:srgbClr val="FFFFFF"/>
                </a:solidFill>
                <a:latin typeface="KIMMBold"/>
                <a:ea typeface="한국기계연구원_Bold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5440680"/>
            <a:ext cx="1353312" cy="292608"/>
          </a:xfrm>
          <a:prstGeom prst="roundRect">
            <a:avLst/>
          </a:prstGeom>
          <a:solidFill>
            <a:srgbClr val="FFF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750" b="0">
                <a:solidFill>
                  <a:srgbClr val="1A1A1A"/>
                </a:solidFill>
                <a:latin typeface="A2Z 7 Bold"/>
                <a:ea typeface="에이투지체 7 Bold"/>
              </a:rPr>
              <a:t>✓ Overlap Highlight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743200"/>
            <a:ext cx="199339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2926080"/>
            <a:ext cx="1627632" cy="2743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A2Z 7 Bold"/>
                <a:ea typeface="에이투지체 7 Bold"/>
              </a:rPr>
              <a:t>대화 제안 알림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6E6E6E"/>
                </a:solidFill>
                <a:latin typeface="A2Z 4 Regular"/>
                <a:ea typeface="에이투지체 4 Regular"/>
              </a:rPr>
              <a:t>대시보드를 탐색하는 중에 3분 이내로 화면 상단에서 스프링 바운스 애니메이션과 함께 드롭다운되는 대화 제안 실시간 토스트 알림 수신.</a:t>
            </a:r>
          </a:p>
        </p:txBody>
      </p:sp>
      <p:sp>
        <p:nvSpPr>
          <p:cNvPr id="19" name="Oval 18"/>
          <p:cNvSpPr/>
          <p:nvPr/>
        </p:nvSpPr>
        <p:spPr>
          <a:xfrm>
            <a:off x="7991856" y="2057400"/>
            <a:ext cx="640080" cy="640080"/>
          </a:xfrm>
          <a:prstGeom prst="ellipse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1300" b="0">
                <a:solidFill>
                  <a:srgbClr val="FFFFFF"/>
                </a:solidFill>
                <a:latin typeface="KIMMBold"/>
                <a:ea typeface="한국기계연구원_Bold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5440680"/>
            <a:ext cx="1353312" cy="292608"/>
          </a:xfrm>
          <a:prstGeom prst="roundRect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750" b="0">
                <a:solidFill>
                  <a:srgbClr val="FFFFFF"/>
                </a:solidFill>
                <a:latin typeface="A2Z 7 Bold"/>
                <a:ea typeface="에이투지체 7 Bold"/>
              </a:rPr>
              <a:t>✉ 대화 알림 수신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2743200"/>
            <a:ext cx="199339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926080"/>
            <a:ext cx="1627632" cy="2743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A2Z 7 Bold"/>
                <a:ea typeface="에이투지체 7 Bold"/>
              </a:rPr>
              <a:t>채팅방 및 보존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6E6E6E"/>
                </a:solidFill>
                <a:latin typeface="A2Z 4 Regular"/>
                <a:ea typeface="에이투지체 4 Regular"/>
              </a:rPr>
              <a:t>알림 클릭 시 다이렉트로 대화방 이동. Llama3 기반 AI가 매칭 상대 성향에 맞춰 응답하는 동적 채팅과 방 복귀 시에도 유지되는 영구성 증명.</a:t>
            </a:r>
          </a:p>
        </p:txBody>
      </p:sp>
      <p:sp>
        <p:nvSpPr>
          <p:cNvPr id="23" name="Oval 22"/>
          <p:cNvSpPr/>
          <p:nvPr/>
        </p:nvSpPr>
        <p:spPr>
          <a:xfrm>
            <a:off x="10186416" y="2057400"/>
            <a:ext cx="640080" cy="640080"/>
          </a:xfrm>
          <a:prstGeom prst="ellipse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1300" b="0">
                <a:solidFill>
                  <a:srgbClr val="FFFFFF"/>
                </a:solidFill>
                <a:latin typeface="KIMMBold"/>
                <a:ea typeface="한국기계연구원_Bold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5440680"/>
            <a:ext cx="1353312" cy="292608"/>
          </a:xfrm>
          <a:prstGeom prst="roundRect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750" b="0">
                <a:solidFill>
                  <a:srgbClr val="1A1A1A"/>
                </a:solidFill>
                <a:latin typeface="A2Z 7 Bold"/>
                <a:ea typeface="에이투지체 7 Bold"/>
              </a:rPr>
              <a:t>💬 실시간 소통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0" y="914400"/>
            <a:ext cx="4114800" cy="5029200"/>
          </a:xfrm>
          <a:prstGeom prst="roundRect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217920" y="2011680"/>
            <a:ext cx="3291840" cy="3291840"/>
          </a:xfrm>
          <a:prstGeom prst="ellipse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61120" y="3291840"/>
            <a:ext cx="2560320" cy="2560320"/>
          </a:xfrm>
          <a:prstGeom prst="roundRect">
            <a:avLst/>
          </a:prstGeom>
          <a:solidFill>
            <a:srgbClr val="FFF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5800" b="1">
                <a:solidFill>
                  <a:srgbClr val="00BC70"/>
                </a:solidFill>
                <a:latin typeface="KIMMBold"/>
                <a:ea typeface="한국기계연구원_Bold"/>
              </a:rPr>
              <a:t>감사합니다</a:t>
            </a:r>
          </a:p>
          <a:p>
            <a:r>
              <a:rPr sz="1800" b="0">
                <a:solidFill>
                  <a:srgbClr val="1A1A1A"/>
                </a:solidFill>
                <a:latin typeface="A2Z 5 Medium"/>
                <a:ea typeface="에이투지체 5 Medium"/>
              </a:rPr>
              <a:t>SyncTrip  |  나의 여행 스타일과 100% 싱크되는
신뢰받는 버디 찾기 서비스 소개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